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aleway" pitchFamily="2" charset="77"/>
      <p:regular r:id="rId13"/>
      <p:bold r:id="rId14"/>
      <p:italic r:id="rId15"/>
      <p:boldItalic r:id="rId16"/>
    </p:embeddedFont>
    <p:embeddedFont>
      <p:font typeface="Raleway Light" pitchFamily="2" charset="77"/>
      <p:regular r:id="rId17"/>
      <p:italic r:id="rId18"/>
    </p:embeddedFont>
    <p:embeddedFont>
      <p:font typeface="Roboto" panose="02000000000000000000" pitchFamily="2" charset="0"/>
      <p:regular r:id="rId19"/>
      <p:bold r:id="rId20"/>
      <p:italic r:id="rId21"/>
    </p:embeddedFont>
    <p:embeddedFont>
      <p:font typeface="Roboto Bold" panose="02000000000000000000" pitchFamily="2" charset="0"/>
      <p:regular r:id="rId22"/>
      <p:bold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7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228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5287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Maths Behind MEB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019127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Foundation Mathematics for Material &amp; Energy Balance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59787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Today is 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consolidation lesson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not a new MEB topic. We will revisit the six key mathematical skills used throughout your MEB module, so you can apply them with confidence.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79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Six Foundation Mathematics Skills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40259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skills appear in </a:t>
            </a: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every MEB calculation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density, moles, composition, material flow, and energy.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14922"/>
            <a:ext cx="360254" cy="3602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489795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Algebra &amp; Formulae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1475" y="2874268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Rearrange and solve equations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3100" y="1914922"/>
            <a:ext cx="360254" cy="3602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03100" y="2489795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Measurement &amp; Unit Conversion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203100" y="2874268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units consistent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499148"/>
            <a:ext cx="360254" cy="3602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4074021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Ratio, Proportion &amp; Percentage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61475" y="4458494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 composition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3100" y="3499148"/>
            <a:ext cx="360254" cy="3602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03100" y="4074021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Fractions 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6203100" y="4458494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Mass fractions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083373"/>
            <a:ext cx="360254" cy="36026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5658247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Basic Arithmetic Calculations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661475" y="6042720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Add, subtract, multiply, divide</a:t>
            </a:r>
            <a:endParaRPr lang="en-US" sz="1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3100" y="5083373"/>
            <a:ext cx="360254" cy="36026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203100" y="5658247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Decimal Places</a:t>
            </a:r>
            <a:endParaRPr lang="en-US" sz="1750" dirty="0"/>
          </a:p>
        </p:txBody>
      </p:sp>
      <p:sp>
        <p:nvSpPr>
          <p:cNvPr id="21" name="Text 13"/>
          <p:cNvSpPr/>
          <p:nvPr/>
        </p:nvSpPr>
        <p:spPr>
          <a:xfrm>
            <a:off x="6203100" y="6042720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 answers correctly.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8063"/>
            <a:ext cx="541522" cy="210741"/>
          </a:xfrm>
          <a:prstGeom prst="roundRect">
            <a:avLst>
              <a:gd name="adj" fmla="val 2213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44717" y="579636"/>
            <a:ext cx="984622" cy="127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89484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Algebra &amp; Formulae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1376164"/>
            <a:ext cx="8452035" cy="38683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41606" y="4325896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41783" y="4325896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Substitute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352827" y="4325896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Rearrange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320397" y="4325896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5359102"/>
            <a:ext cx="11478330" cy="194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these steps to every MEB formula. For </a:t>
            </a:r>
            <a:r>
              <a:rPr lang="en-US" sz="10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rearrange to </a:t>
            </a:r>
            <a:r>
              <a:rPr lang="en-US" sz="10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r>
              <a:rPr lang="en-US" sz="10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 same approach works for </a:t>
            </a:r>
            <a:r>
              <a:rPr lang="en-US" sz="10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0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      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183" y="5378152"/>
            <a:ext cx="546781" cy="175419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7049" y="5378152"/>
            <a:ext cx="644608" cy="175419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6716" y="5378152"/>
            <a:ext cx="546781" cy="175419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144" y="5378152"/>
            <a:ext cx="632603" cy="175419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9082" y="5378152"/>
            <a:ext cx="769224" cy="175419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661475" y="5668169"/>
            <a:ext cx="10868745" cy="651768"/>
          </a:xfrm>
          <a:prstGeom prst="roundRect">
            <a:avLst>
              <a:gd name="adj" fmla="val 8945"/>
            </a:avLst>
          </a:prstGeom>
          <a:solidFill>
            <a:srgbClr val="D9D9D9"/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278" y="5816501"/>
            <a:ext cx="173430" cy="138807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112512" y="5804694"/>
            <a:ext cx="10278905" cy="388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 Check: To find volume from </a:t>
            </a:r>
            <a:r>
              <a:rPr lang="en-US" sz="10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which rearrangement is correct?</a:t>
            </a:r>
            <a:endParaRPr lang="en-US" sz="10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A)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0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   </a:t>
            </a:r>
            <a:r>
              <a:rPr lang="en-US" sz="10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B)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0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   </a:t>
            </a:r>
            <a:r>
              <a:rPr lang="en-US" sz="10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C)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0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</a:t>
            </a:r>
            <a:endParaRPr lang="en-US" sz="10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20262" y="5823744"/>
            <a:ext cx="546781" cy="175419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9117" y="6018213"/>
            <a:ext cx="644608" cy="175419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43379" y="6018213"/>
            <a:ext cx="644608" cy="175419"/>
          </a:xfrm>
          <a:prstGeom prst="rect">
            <a:avLst/>
          </a:prstGeom>
        </p:spPr>
      </p:pic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98137" y="6018213"/>
            <a:ext cx="644608" cy="1754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02928"/>
            <a:ext cx="73767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259582"/>
            <a:ext cx="11204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6567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Measurement &amp; Unit Conversion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525350" y="2439789"/>
            <a:ext cx="5476043" cy="3215283"/>
          </a:xfrm>
          <a:prstGeom prst="roundRect">
            <a:avLst>
              <a:gd name="adj" fmla="val 423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2628801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Conversions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3113088"/>
            <a:ext cx="509802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kg = 1,000 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kmol = 1,000 mol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kJ = 1,000 J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L = 1,000 mL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4357" y="4691062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convert </a:t>
            </a: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before</a:t>
            </a: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substituting into a formula.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262880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Spot the Problem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32776" y="3113088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      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where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          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mass =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500 g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876" y="3151188"/>
            <a:ext cx="1048121" cy="246955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339" y="3151188"/>
            <a:ext cx="1722295" cy="2469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32776" y="3887986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is wrong?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332776" y="4403030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783" y="4689773"/>
            <a:ext cx="236234" cy="1890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7024" y="4620320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Mass is in </a:t>
            </a: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grams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but </a:t>
            </a:r>
            <a:r>
              <a:rPr lang="en-US" sz="14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per </a:t>
            </a: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kg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Convert first: 500 g = </a:t>
            </a: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0.5 kg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5716" y="4658420"/>
            <a:ext cx="206271" cy="2469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96528"/>
            <a:ext cx="737673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53182"/>
            <a:ext cx="11204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5927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Ratio, Proportion &amp; Percentage</a:t>
            </a:r>
            <a:endParaRPr lang="en-US" sz="3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46015"/>
          <a:ext cx="9143771" cy="914400"/>
        </p:xfrm>
        <a:graphic>
          <a:graphicData uri="http://schemas.openxmlformats.org/drawingml/2006/table">
            <a:tbl>
              <a:tblPr/>
              <a:tblGrid>
                <a:gridCol w="1744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2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Concept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Simple idea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MEB example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Ratio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Compare two quantities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A:B = 1:3 means 1 part A for every 3 parts B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6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Proportion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Scale quantities while keeping the same relationship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If 100 kg contains 20 kg A, then 500 kg contains 100 kg A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Percentage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Part out of 100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20% of 500 kg = 100 kg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7442907" y="2033389"/>
            <a:ext cx="4229689" cy="3512939"/>
          </a:xfrm>
          <a:prstGeom prst="roundRect">
            <a:avLst>
              <a:gd name="adj" fmla="val 387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631914" y="2222401"/>
            <a:ext cx="385167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MEB Example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631914" y="2706688"/>
            <a:ext cx="44612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500 kg</a:t>
            </a: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stream contains </a:t>
            </a: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20%</a:t>
            </a: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component A.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31914" y="3179167"/>
            <a:ext cx="44612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           </a:t>
            </a:r>
            <a:endParaRPr lang="en-US" sz="14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914" y="3217267"/>
            <a:ext cx="1969939" cy="24407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31914" y="3741440"/>
            <a:ext cx="3851675" cy="254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7631914" y="4026694"/>
            <a:ext cx="38516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Interpret:</a:t>
            </a: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What does 30% component A mean in a 200 kg stream?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1475" y="575895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Summary :Ratio compares. Proportion scales. Percentage shows a part of the total.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368588" cy="143470"/>
          </a:xfrm>
          <a:prstGeom prst="roundRect">
            <a:avLst>
              <a:gd name="adj" fmla="val 2213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864868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 4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Fractions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01328"/>
            <a:ext cx="5319083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487" y="329813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Connection to MEB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17487" y="3492996"/>
            <a:ext cx="5319083" cy="2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Fractions, decimals, and percentages all describe the </a:t>
            </a: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same proportion</a:t>
            </a: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used in mass fraction and stream composition.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Example:</a:t>
            </a: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¼ of a 240 kg stream: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217487" y="3804741"/>
            <a:ext cx="5928668" cy="114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              </a:t>
            </a:r>
            <a:endParaRPr lang="en-US" sz="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487" y="3804741"/>
            <a:ext cx="1177003" cy="11439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17487" y="3972223"/>
            <a:ext cx="5319083" cy="245566"/>
          </a:xfrm>
          <a:prstGeom prst="roundRect">
            <a:avLst>
              <a:gd name="adj" fmla="val 16164"/>
            </a:avLst>
          </a:prstGeom>
          <a:solidFill>
            <a:srgbClr val="E1E1E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941" y="4043065"/>
            <a:ext cx="118067" cy="94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24462" y="4038302"/>
            <a:ext cx="55272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Mass fraction of 0.25 means 25% of the total stream mass.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75469"/>
            <a:ext cx="576347" cy="224334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5321961" y="619720"/>
            <a:ext cx="1008732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 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33360" y="845939"/>
            <a:ext cx="6296860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Basic Arithmetic   Calculations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233360" y="1480443"/>
            <a:ext cx="6296860" cy="818158"/>
          </a:xfrm>
          <a:prstGeom prst="roundRect">
            <a:avLst>
              <a:gd name="adj" fmla="val 758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87344" y="1634430"/>
            <a:ext cx="598889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 Addition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387344" y="1934270"/>
            <a:ext cx="598889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 stream masses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233360" y="2413893"/>
            <a:ext cx="6296860" cy="818158"/>
          </a:xfrm>
          <a:prstGeom prst="roundRect">
            <a:avLst>
              <a:gd name="adj" fmla="val 758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87344" y="2567880"/>
            <a:ext cx="598889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− Subtraction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387344" y="2867720"/>
            <a:ext cx="598889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an unknown component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233360" y="3347343"/>
            <a:ext cx="6296860" cy="818158"/>
          </a:xfrm>
          <a:prstGeom prst="roundRect">
            <a:avLst>
              <a:gd name="adj" fmla="val 758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87344" y="3501330"/>
            <a:ext cx="598889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× Multiplication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387344" y="3801170"/>
            <a:ext cx="598889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formulae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233360" y="4280793"/>
            <a:ext cx="6296860" cy="818158"/>
          </a:xfrm>
          <a:prstGeom prst="roundRect">
            <a:avLst>
              <a:gd name="adj" fmla="val 758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87344" y="4434780"/>
            <a:ext cx="598889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Division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387344" y="4734620"/>
            <a:ext cx="598889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Rearrange formulae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233360" y="5228729"/>
            <a:ext cx="6296860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Example: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 stream = 600 kg, Component A = 150 kg.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 B = </a:t>
            </a:r>
            <a:r>
              <a:rPr lang="en-US" sz="11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         </a:t>
            </a:r>
            <a:endParaRPr lang="en-US" sz="11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771" y="5458123"/>
            <a:ext cx="1202303" cy="176213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233360" y="5779195"/>
            <a:ext cx="6296860" cy="503238"/>
          </a:xfrm>
          <a:prstGeom prst="roundRect">
            <a:avLst>
              <a:gd name="adj" fmla="val 12325"/>
            </a:avLst>
          </a:prstGeom>
          <a:solidFill>
            <a:srgbClr val="E1E1EA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0994" y="5941913"/>
            <a:ext cx="184542" cy="1476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713170" y="5931396"/>
            <a:ext cx="627900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calculate brackets first: </a:t>
            </a:r>
            <a:r>
              <a:rPr lang="en-US" sz="11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        </a:t>
            </a: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</a:t>
            </a:r>
            <a:r>
              <a:rPr lang="en-US" sz="11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       </a:t>
            </a: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4310" y="5950446"/>
            <a:ext cx="1018058" cy="176213"/>
          </a:xfrm>
          <a:prstGeom prst="rect">
            <a:avLst/>
          </a:prstGeom>
        </p:spPr>
      </p:pic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8769" y="5950446"/>
            <a:ext cx="905745" cy="1762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79314"/>
            <a:ext cx="737673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235968"/>
            <a:ext cx="11204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 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420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Decimal Places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60518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Rounding and Decimal Places 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089473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4.26 →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4.3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1 d.p.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7.842 →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7.84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2 d.p.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12.195 →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12.20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2 d.p.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298950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Rule: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Look at the digit immediately after the required decimal place.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0–4 → keep the previous digit unchanged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5–9 → increase the previous digit by 1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6651" y="2416175"/>
            <a:ext cx="5476043" cy="3262511"/>
          </a:xfrm>
          <a:prstGeom prst="roundRect">
            <a:avLst>
              <a:gd name="adj" fmla="val 417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85658" y="2605187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Worked Example - Decimal Place 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85658" y="3089473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         </a:t>
            </a:r>
            <a:endParaRPr lang="en-US" sz="14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658" y="3127573"/>
            <a:ext cx="1456792" cy="24407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85658" y="3561953"/>
            <a:ext cx="5098029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the answer is required to </a:t>
            </a: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 decimal place</a:t>
            </a: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3.78→3.8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385658" y="4596705"/>
            <a:ext cx="5098029" cy="254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385658" y="4881959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 first, then round the final answer to the required decimal place.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0799"/>
            <a:ext cx="1350234" cy="219869"/>
          </a:xfrm>
          <a:prstGeom prst="roundRect">
            <a:avLst>
              <a:gd name="adj" fmla="val 2211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48289" y="564158"/>
            <a:ext cx="1786190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PUT IT ALL TOGETHER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84920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One Problem, Six Skills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61475" y="1403350"/>
            <a:ext cx="1086874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Given: </a:t>
            </a:r>
            <a:r>
              <a:rPr lang="en-US" sz="11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          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temperature rises from 20°C to 50°C.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</a:t>
            </a:r>
            <a:r>
              <a:rPr lang="en-US" sz="11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      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75" y="1422400"/>
            <a:ext cx="673579" cy="18236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846" y="1422400"/>
            <a:ext cx="1247148" cy="182364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555" y="1626791"/>
            <a:ext cx="802064" cy="182364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4060" y="1936750"/>
            <a:ext cx="6383575" cy="378876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47124" y="4846691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Calculate Q</a:t>
            </a:r>
            <a:endParaRPr lang="en-US" sz="1900" dirty="0"/>
          </a:p>
        </p:txBody>
      </p:sp>
      <p:sp>
        <p:nvSpPr>
          <p:cNvPr id="11" name="Text 5"/>
          <p:cNvSpPr/>
          <p:nvPr/>
        </p:nvSpPr>
        <p:spPr>
          <a:xfrm>
            <a:off x="5347307" y="4846691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Substitute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3314884" y="4846691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Find ΔT</a:t>
            </a:r>
            <a:endParaRPr lang="en-US" sz="1900" dirty="0"/>
          </a:p>
        </p:txBody>
      </p:sp>
      <p:sp>
        <p:nvSpPr>
          <p:cNvPr id="13" name="Shape 7"/>
          <p:cNvSpPr/>
          <p:nvPr/>
        </p:nvSpPr>
        <p:spPr>
          <a:xfrm>
            <a:off x="661475" y="5850136"/>
            <a:ext cx="10868745" cy="487065"/>
          </a:xfrm>
          <a:prstGeom prst="roundRect">
            <a:avLst>
              <a:gd name="adj" fmla="val 12479"/>
            </a:avLst>
          </a:prstGeom>
          <a:solidFill>
            <a:srgbClr val="D9D9D9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132" y="6010077"/>
            <a:ext cx="180871" cy="14466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31661" y="5996980"/>
            <a:ext cx="1086348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Foundation Mathematics skills did we use? Discuss with a partner.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08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Takeaway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7947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975346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120602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Algebra &amp; Formulae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190301" y="167947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0301" y="1975346"/>
            <a:ext cx="5339919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6190301" y="2120602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Unit Conversion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61475" y="274657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3042444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3187700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Ratio &amp; Percentage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190301" y="274657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301" y="3042444"/>
            <a:ext cx="5339919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190301" y="3187700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Fractions 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61475" y="3813671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109541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25479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Basic Arithmetic Operations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190301" y="3813671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90301" y="4109541"/>
            <a:ext cx="5339919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8"/>
          <p:cNvSpPr/>
          <p:nvPr/>
        </p:nvSpPr>
        <p:spPr>
          <a:xfrm>
            <a:off x="6190301" y="4254798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Decimal Place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944936" y="5117009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Different MEB topics, same Foundation Mathematics skills.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475" y="4904383"/>
            <a:ext cx="25399" cy="727670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584467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Next: Let's go through the mission chapter together for more practice.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</Words>
  <Application>Microsoft Macintosh PowerPoint</Application>
  <PresentationFormat>Widescreen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</vt:lpstr>
      <vt:lpstr>Arial</vt:lpstr>
      <vt:lpstr>Raleway Light</vt:lpstr>
      <vt:lpstr>Roboto Bold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Syahirah Dayana JUNAIDI (ITE)</cp:lastModifiedBy>
  <cp:revision>2</cp:revision>
  <dcterms:created xsi:type="dcterms:W3CDTF">2026-09-05T07:37:01Z</dcterms:created>
  <dcterms:modified xsi:type="dcterms:W3CDTF">2026-09-06T05:30:52Z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efc09b6-5eeb-45a3-8489-5b9dd328deec_Enabled">
    <vt:lpwstr>true</vt:lpwstr>
  </property>
  <property fmtid="{D5CDD505-2E9C-101B-9397-08002B2CF9AE}" pid="3" name="MSIP_Label_eefc09b6-5eeb-45a3-8489-5b9dd328deec_SetDate">
    <vt:lpwstr>2026-09-06T05:30:16Z</vt:lpwstr>
  </property>
  <property fmtid="{D5CDD505-2E9C-101B-9397-08002B2CF9AE}" pid="4" name="MSIP_Label_eefc09b6-5eeb-45a3-8489-5b9dd328deec_Method">
    <vt:lpwstr>Privileged</vt:lpwstr>
  </property>
  <property fmtid="{D5CDD505-2E9C-101B-9397-08002B2CF9AE}" pid="5" name="MSIP_Label_eefc09b6-5eeb-45a3-8489-5b9dd328deec_Name">
    <vt:lpwstr>eefc09b6-5eeb-45a3-8489-5b9dd328deec</vt:lpwstr>
  </property>
  <property fmtid="{D5CDD505-2E9C-101B-9397-08002B2CF9AE}" pid="6" name="MSIP_Label_eefc09b6-5eeb-45a3-8489-5b9dd328deec_SiteId">
    <vt:lpwstr>13b42c8c-cbcf-4e3d-9d20-f55b7b5ee3c1</vt:lpwstr>
  </property>
  <property fmtid="{D5CDD505-2E9C-101B-9397-08002B2CF9AE}" pid="7" name="MSIP_Label_eefc09b6-5eeb-45a3-8489-5b9dd328deec_ActionId">
    <vt:lpwstr>1ec80402-938d-4e27-a93e-61c49844a242</vt:lpwstr>
  </property>
  <property fmtid="{D5CDD505-2E9C-101B-9397-08002B2CF9AE}" pid="8" name="MSIP_Label_eefc09b6-5eeb-45a3-8489-5b9dd328deec_ContentBits">
    <vt:lpwstr>0</vt:lpwstr>
  </property>
  <property fmtid="{D5CDD505-2E9C-101B-9397-08002B2CF9AE}" pid="9" name="MSIP_Label_eefc09b6-5eeb-45a3-8489-5b9dd328deec_Tag">
    <vt:lpwstr>50, 0, 1, 1</vt:lpwstr>
  </property>
</Properties>
</file>